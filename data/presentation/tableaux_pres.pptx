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67" d="100"/>
          <a:sy n="67" d="100"/>
        </p:scale>
        <p:origin x="1476" y="6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tags" Target="tags/tag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21/04/2026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21/04/2026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21/04/2026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21/04/2026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21/04/2026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21/04/2026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21/04/2026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21/04/2026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/>
          </p:nvPr>
        </p:nvSpPr>
        <p:spPr>
          <a:xfrm>
            <a:off x="457200" y="182880"/>
            <a:ext cx="8229600" cy="731520"/>
          </a:xfrm>
        </p:spPr>
        <p:txBody>
          <a:bodyPr/>
          <a:lstStyle/>
          <a:p>
            <a:pPr marL="0" indent="0" algn="ctr">
              <a:buNone/>
            </a:pPr>
            <a:r>
              <a:rPr b="1" dirty="0"/>
              <a:t>Categories et </a:t>
            </a:r>
            <a:r>
              <a:rPr b="1" dirty="0" err="1"/>
              <a:t>nombres</a:t>
            </a:r>
            <a:endParaRPr b="1" dirty="0"/>
          </a:p>
        </p:txBody>
      </p:sp>
      <p:graphicFrame>
        <p:nvGraphicFramePr>
          <p:cNvPr id="3" name="Tableau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8973701"/>
              </p:ext>
            </p:extLst>
          </p:nvPr>
        </p:nvGraphicFramePr>
        <p:xfrm>
          <a:off x="1273324" y="1139818"/>
          <a:ext cx="2260388" cy="1203305"/>
        </p:xfrm>
        <a:graphic>
          <a:graphicData uri="http://schemas.openxmlformats.org/drawingml/2006/table">
            <a:tbl>
              <a:tblPr/>
              <a:tblGrid>
                <a:gridCol w="17626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7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5125">
                <a:tc>
                  <a:txBody>
                    <a:bodyPr/>
                    <a:lstStyle/>
                    <a:p>
                      <a:pPr marL="50800" marR="50800" algn="l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sz="1600" b="1" i="0" u="none" strike="noStrik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sym typeface="Arial"/>
                        </a:rPr>
                        <a:t>Type de manioc</a:t>
                      </a:r>
                    </a:p>
                  </a:txBody>
                  <a:tcPr marL="0" marR="0" marT="50800" marB="50800" anchor="ctr">
                    <a:lnL w="0" cap="flat" cmpd="sng" algn="ctr">
                      <a:noFill/>
                      <a:prstDash val="solid"/>
                    </a:lnL>
                    <a:lnR w="0" cap="flat" cmpd="sng" algn="ctr">
                      <a:noFill/>
                      <a:prstDash val="solid"/>
                    </a:lnR>
                    <a:lnT w="19050" cap="flat" cmpd="sng" algn="ctr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w="19050" cap="flat" cmpd="sng" algn="ctr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 marR="50800" algn="ctr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sz="1600" b="1" i="0" u="none" strike="noStrik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sym typeface="Arial"/>
                        </a:rPr>
                        <a:t>Nb</a:t>
                      </a:r>
                    </a:p>
                  </a:txBody>
                  <a:tcPr marL="0" marR="0" marT="50800" marB="50800" anchor="ctr">
                    <a:lnL w="0" cap="flat" cmpd="sng" algn="ctr">
                      <a:noFill/>
                      <a:prstDash val="solid"/>
                    </a:lnL>
                    <a:lnR w="0" cap="flat" cmpd="sng" algn="ctr">
                      <a:noFill/>
                      <a:prstDash val="solid"/>
                    </a:lnR>
                    <a:lnT w="19050" cap="flat" cmpd="sng" algn="ctr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w="19050" cap="flat" cmpd="sng" algn="ctr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5437">
                <a:tc>
                  <a:txBody>
                    <a:bodyPr/>
                    <a:lstStyle/>
                    <a:p>
                      <a:pPr marL="50800" marR="50800" algn="l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sz="1600" b="0" i="0" u="none" strike="noStrik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sym typeface="Arial"/>
                        </a:rPr>
                        <a:t>manioc</a:t>
                      </a:r>
                    </a:p>
                  </a:txBody>
                  <a:tcPr marL="0" marR="0" marT="50800" marB="50800" anchor="ctr">
                    <a:lnL w="0" cap="flat" cmpd="sng" algn="ctr">
                      <a:noFill/>
                      <a:prstDash val="solid"/>
                    </a:lnL>
                    <a:lnR w="0" cap="flat" cmpd="sng" algn="ctr">
                      <a:noFill/>
                      <a:prstDash val="solid"/>
                    </a:lnR>
                    <a:lnT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 marR="50800" algn="ctr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sz="1600" b="0" i="0" u="none" strike="noStrik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sym typeface="Arial"/>
                        </a:rPr>
                        <a:t>59</a:t>
                      </a:r>
                    </a:p>
                  </a:txBody>
                  <a:tcPr marL="0" marR="0" marT="50800" marB="50800" anchor="ctr">
                    <a:lnL w="0" cap="flat" cmpd="sng" algn="ctr">
                      <a:noFill/>
                      <a:prstDash val="solid"/>
                    </a:lnL>
                    <a:lnR w="0" cap="flat" cmpd="sng" algn="ctr">
                      <a:noFill/>
                      <a:prstDash val="solid"/>
                    </a:lnR>
                    <a:lnT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2743">
                <a:tc>
                  <a:txBody>
                    <a:bodyPr/>
                    <a:lstStyle/>
                    <a:p>
                      <a:pPr marL="50800" marR="50800" algn="l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sz="1600" b="0" i="0" u="none" strike="noStrik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sym typeface="Arial"/>
                        </a:rPr>
                        <a:t>kra_manioc</a:t>
                      </a:r>
                    </a:p>
                  </a:txBody>
                  <a:tcPr marL="0" marR="0" marT="50800" marB="50800" anchor="ctr">
                    <a:lnL w="0" cap="flat" cmpd="sng" algn="ctr">
                      <a:noFill/>
                      <a:prstDash val="solid"/>
                    </a:lnL>
                    <a:lnR w="0" cap="flat" cmpd="sng" algn="ctr">
                      <a:noFill/>
                      <a:prstDash val="solid"/>
                    </a:lnR>
                    <a:lnT w="0" cap="flat" cmpd="sng" algn="ctr">
                      <a:noFill/>
                      <a:prstDash val="solid"/>
                    </a:lnT>
                    <a:lnB w="19050" cap="flat" cmpd="sng" algn="ctr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 marR="50800" algn="ctr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sz="1600" b="0" i="0" u="none" strike="noStrik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sym typeface="Arial"/>
                        </a:rPr>
                        <a:t>19</a:t>
                      </a:r>
                    </a:p>
                  </a:txBody>
                  <a:tcPr marL="0" marR="0" marT="50800" marB="50800" anchor="ctr">
                    <a:lnL w="0" cap="flat" cmpd="sng" algn="ctr">
                      <a:noFill/>
                      <a:prstDash val="solid"/>
                    </a:lnL>
                    <a:lnR w="0" cap="flat" cmpd="sng" algn="ctr">
                      <a:noFill/>
                      <a:prstDash val="solid"/>
                    </a:lnR>
                    <a:lnT w="0" cap="flat" cmpd="sng" algn="ctr">
                      <a:noFill/>
                      <a:prstDash val="solid"/>
                    </a:lnT>
                    <a:lnB w="19050" cap="flat" cmpd="sng" algn="ctr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4" name="Tableau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8532491"/>
              </p:ext>
            </p:extLst>
          </p:nvPr>
        </p:nvGraphicFramePr>
        <p:xfrm>
          <a:off x="1259631" y="2658579"/>
          <a:ext cx="2155081" cy="1527659"/>
        </p:xfrm>
        <a:graphic>
          <a:graphicData uri="http://schemas.openxmlformats.org/drawingml/2006/table">
            <a:tbl>
              <a:tblPr/>
              <a:tblGrid>
                <a:gridCol w="16555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95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4094">
                <a:tc>
                  <a:txBody>
                    <a:bodyPr/>
                    <a:lstStyle/>
                    <a:p>
                      <a:pPr marL="50800" marR="50800" algn="l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sz="1600" b="1" i="0" u="none" strike="noStrike" cap="none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sym typeface="Arial"/>
                        </a:rPr>
                        <a:t>Couleur </a:t>
                      </a:r>
                      <a:r>
                        <a:rPr sz="1600" b="1" i="0" u="none" strike="noStrike" cap="none" dirty="0" err="1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sym typeface="Arial"/>
                        </a:rPr>
                        <a:t>racine</a:t>
                      </a:r>
                      <a:endParaRPr sz="1600" b="1" i="0" u="none" strike="noStrike" cap="none" dirty="0">
                        <a:solidFill>
                          <a:srgbClr val="000000">
                            <a:alpha val="100000"/>
                          </a:srgbClr>
                        </a:solidFill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  <a:prstDash val="solid"/>
                    </a:lnL>
                    <a:lnR w="0" cap="flat" cmpd="sng" algn="ctr">
                      <a:noFill/>
                      <a:prstDash val="solid"/>
                    </a:lnR>
                    <a:lnT w="19050" cap="flat" cmpd="sng" algn="ctr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w="19050" cap="flat" cmpd="sng" algn="ctr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 marR="50800" algn="ctr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sz="1600" b="1" i="0" u="none" strike="noStrik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sym typeface="Arial"/>
                        </a:rPr>
                        <a:t>Nb</a:t>
                      </a:r>
                    </a:p>
                  </a:txBody>
                  <a:tcPr marL="0" marR="0" marT="50800" marB="50800" anchor="ctr">
                    <a:lnL w="0" cap="flat" cmpd="sng" algn="ctr">
                      <a:noFill/>
                      <a:prstDash val="solid"/>
                    </a:lnL>
                    <a:lnR w="0" cap="flat" cmpd="sng" algn="ctr">
                      <a:noFill/>
                      <a:prstDash val="solid"/>
                    </a:lnR>
                    <a:lnT w="19050" cap="flat" cmpd="sng" algn="ctr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w="19050" cap="flat" cmpd="sng" algn="ctr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574">
                <a:tc>
                  <a:txBody>
                    <a:bodyPr/>
                    <a:lstStyle/>
                    <a:p>
                      <a:pPr marL="50800" marR="50800" algn="l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sz="1600" b="0" i="0" u="none" strike="noStrike" cap="none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sym typeface="Arial"/>
                        </a:rPr>
                        <a:t>jaune</a:t>
                      </a:r>
                    </a:p>
                  </a:txBody>
                  <a:tcPr marL="0" marR="0" marT="50800" marB="50800" anchor="ctr">
                    <a:lnL w="0" cap="flat" cmpd="sng" algn="ctr">
                      <a:noFill/>
                      <a:prstDash val="solid"/>
                    </a:lnL>
                    <a:lnR w="0" cap="flat" cmpd="sng" algn="ctr">
                      <a:noFill/>
                      <a:prstDash val="solid"/>
                    </a:lnR>
                    <a:lnT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 marR="50800" algn="ctr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sz="1600" b="0" i="0" u="none" strike="noStrike" cap="none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sym typeface="Arial"/>
                        </a:rPr>
                        <a:t>21</a:t>
                      </a:r>
                    </a:p>
                  </a:txBody>
                  <a:tcPr marL="0" marR="0" marT="50800" marB="50800" anchor="ctr">
                    <a:lnL w="0" cap="flat" cmpd="sng" algn="ctr">
                      <a:noFill/>
                      <a:prstDash val="solid"/>
                    </a:lnL>
                    <a:lnR w="0" cap="flat" cmpd="sng" algn="ctr">
                      <a:noFill/>
                      <a:prstDash val="solid"/>
                    </a:lnR>
                    <a:lnT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2225">
                <a:tc>
                  <a:txBody>
                    <a:bodyPr/>
                    <a:lstStyle/>
                    <a:p>
                      <a:pPr marL="50800" marR="50800" algn="l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sz="1600" b="0" i="0" u="none" strike="noStrik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sym typeface="Arial"/>
                        </a:rPr>
                        <a:t>blanc</a:t>
                      </a:r>
                    </a:p>
                  </a:txBody>
                  <a:tcPr marL="0" marR="0" marT="50800" marB="50800" anchor="ctr">
                    <a:lnL w="0" cap="flat" cmpd="sng" algn="ctr">
                      <a:noFill/>
                      <a:prstDash val="solid"/>
                    </a:lnL>
                    <a:lnR w="0" cap="flat" cmpd="sng" algn="ctr">
                      <a:noFill/>
                      <a:prstDash val="solid"/>
                    </a:lnR>
                    <a:lnT w="0" cap="flat" cmpd="sng" algn="ctr">
                      <a:noFill/>
                      <a:prstDash val="solid"/>
                    </a:lnT>
                    <a:lnB w="0" cap="flat" cmpd="sng" algn="ctr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 marR="50800" algn="ctr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sz="1600" b="0" i="0" u="none" strike="noStrik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sym typeface="Arial"/>
                        </a:rPr>
                        <a:t>18</a:t>
                      </a:r>
                    </a:p>
                  </a:txBody>
                  <a:tcPr marL="0" marR="0" marT="50800" marB="50800" anchor="ctr">
                    <a:lnL w="0" cap="flat" cmpd="sng" algn="ctr">
                      <a:noFill/>
                      <a:prstDash val="solid"/>
                    </a:lnL>
                    <a:lnR w="0" cap="flat" cmpd="sng" algn="ctr">
                      <a:noFill/>
                      <a:prstDash val="solid"/>
                    </a:lnR>
                    <a:lnT w="0" cap="flat" cmpd="sng" algn="ctr">
                      <a:noFill/>
                      <a:prstDash val="solid"/>
                    </a:lnT>
                    <a:lnB w="0" cap="flat" cmpd="sng" algn="ctr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9766">
                <a:tc>
                  <a:txBody>
                    <a:bodyPr/>
                    <a:lstStyle/>
                    <a:p>
                      <a:pPr marL="50800" marR="50800" algn="l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sz="1600" b="0" i="0" u="none" strike="noStrik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sym typeface="Arial"/>
                        </a:rPr>
                        <a:t>creme</a:t>
                      </a:r>
                    </a:p>
                  </a:txBody>
                  <a:tcPr marL="0" marR="0" marT="50800" marB="50800" anchor="ctr">
                    <a:lnL w="0" cap="flat" cmpd="sng" algn="ctr">
                      <a:noFill/>
                      <a:prstDash val="solid"/>
                    </a:lnL>
                    <a:lnR w="0" cap="flat" cmpd="sng" algn="ctr">
                      <a:noFill/>
                      <a:prstDash val="solid"/>
                    </a:lnR>
                    <a:lnT w="0" cap="flat" cmpd="sng" algn="ctr">
                      <a:noFill/>
                      <a:prstDash val="solid"/>
                    </a:lnT>
                    <a:lnB w="19050" cap="flat" cmpd="sng" algn="ctr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 marR="50800" algn="ctr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sz="1600" b="0" i="0" u="none" strike="noStrike" cap="none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marL="0" marR="0" marT="50800" marB="50800" anchor="ctr">
                    <a:lnL w="0" cap="flat" cmpd="sng" algn="ctr">
                      <a:noFill/>
                      <a:prstDash val="solid"/>
                    </a:lnL>
                    <a:lnR w="0" cap="flat" cmpd="sng" algn="ctr">
                      <a:noFill/>
                      <a:prstDash val="solid"/>
                    </a:lnR>
                    <a:lnT w="0" cap="flat" cmpd="sng" algn="ctr">
                      <a:noFill/>
                      <a:prstDash val="solid"/>
                    </a:lnT>
                    <a:lnB w="19050" cap="flat" cmpd="sng" algn="ctr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5" name="Tableau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9592897"/>
              </p:ext>
            </p:extLst>
          </p:nvPr>
        </p:nvGraphicFramePr>
        <p:xfrm>
          <a:off x="1260798" y="4577742"/>
          <a:ext cx="2022958" cy="1543321"/>
        </p:xfrm>
        <a:graphic>
          <a:graphicData uri="http://schemas.openxmlformats.org/drawingml/2006/table">
            <a:tbl>
              <a:tblPr/>
              <a:tblGrid>
                <a:gridCol w="15251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7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7322">
                <a:tc>
                  <a:txBody>
                    <a:bodyPr/>
                    <a:lstStyle/>
                    <a:p>
                      <a:pPr marL="50800" marR="50800" algn="l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sz="1600" b="1" i="0" u="none" strike="noStrik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sym typeface="Arial"/>
                        </a:rPr>
                        <a:t>Communauté</a:t>
                      </a:r>
                    </a:p>
                  </a:txBody>
                  <a:tcPr marL="0" marR="0" marT="50800" marB="50800" anchor="ctr">
                    <a:lnL w="0" cap="flat" cmpd="sng" algn="ctr">
                      <a:noFill/>
                      <a:prstDash val="solid"/>
                    </a:lnL>
                    <a:lnR w="0" cap="flat" cmpd="sng" algn="ctr">
                      <a:noFill/>
                      <a:prstDash val="solid"/>
                    </a:lnR>
                    <a:lnT w="19050" cap="flat" cmpd="sng" algn="ctr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w="19050" cap="flat" cmpd="sng" algn="ctr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 marR="50800" algn="ctr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sz="1600" b="1" i="0" u="none" strike="noStrik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sym typeface="Arial"/>
                        </a:rPr>
                        <a:t>Nb</a:t>
                      </a:r>
                    </a:p>
                  </a:txBody>
                  <a:tcPr marL="0" marR="0" marT="50800" marB="50800" anchor="ctr">
                    <a:lnL w="0" cap="flat" cmpd="sng" algn="ctr">
                      <a:noFill/>
                      <a:prstDash val="solid"/>
                    </a:lnL>
                    <a:lnR w="0" cap="flat" cmpd="sng" algn="ctr">
                      <a:noFill/>
                      <a:prstDash val="solid"/>
                    </a:lnR>
                    <a:lnT w="19050" cap="flat" cmpd="sng" algn="ctr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w="19050" cap="flat" cmpd="sng" algn="ctr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5125">
                <a:tc>
                  <a:txBody>
                    <a:bodyPr/>
                    <a:lstStyle/>
                    <a:p>
                      <a:pPr marL="50800" marR="50800" algn="l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sz="1600" b="0" i="0" u="none" strike="noStrike" cap="none" dirty="0" err="1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sym typeface="Arial"/>
                        </a:rPr>
                        <a:t>bushinengues</a:t>
                      </a:r>
                      <a:endParaRPr sz="1600" b="0" i="0" u="none" strike="noStrike" cap="none" dirty="0">
                        <a:solidFill>
                          <a:srgbClr val="000000">
                            <a:alpha val="100000"/>
                          </a:srgbClr>
                        </a:solidFill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  <a:prstDash val="solid"/>
                    </a:lnL>
                    <a:lnR w="0" cap="flat" cmpd="sng" algn="ctr">
                      <a:noFill/>
                      <a:prstDash val="solid"/>
                    </a:lnR>
                    <a:lnT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 marR="50800" algn="ctr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sz="1600" b="0" i="0" u="none" strike="noStrik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sym typeface="Arial"/>
                        </a:rPr>
                        <a:t>35</a:t>
                      </a:r>
                    </a:p>
                  </a:txBody>
                  <a:tcPr marL="0" marR="0" marT="50800" marB="50800" anchor="ctr">
                    <a:lnL w="0" cap="flat" cmpd="sng" algn="ctr">
                      <a:noFill/>
                      <a:prstDash val="solid"/>
                    </a:lnL>
                    <a:lnR w="0" cap="flat" cmpd="sng" algn="ctr">
                      <a:noFill/>
                      <a:prstDash val="solid"/>
                    </a:lnR>
                    <a:lnT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5437">
                <a:tc>
                  <a:txBody>
                    <a:bodyPr/>
                    <a:lstStyle/>
                    <a:p>
                      <a:pPr marL="50800" marR="50800" algn="l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sz="1600" b="0" i="0" u="none" strike="noStrik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sym typeface="Arial"/>
                        </a:rPr>
                        <a:t>amerindien</a:t>
                      </a:r>
                    </a:p>
                  </a:txBody>
                  <a:tcPr marL="0" marR="0" marT="50800" marB="50800" anchor="ctr">
                    <a:lnL w="0" cap="flat" cmpd="sng" algn="ctr">
                      <a:noFill/>
                      <a:prstDash val="solid"/>
                    </a:lnL>
                    <a:lnR w="0" cap="flat" cmpd="sng" algn="ctr">
                      <a:noFill/>
                      <a:prstDash val="solid"/>
                    </a:lnR>
                    <a:lnT w="0" cap="flat" cmpd="sng" algn="ctr">
                      <a:noFill/>
                      <a:prstDash val="solid"/>
                    </a:lnT>
                    <a:lnB w="0" cap="flat" cmpd="sng" algn="ctr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 marR="50800" algn="ctr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sz="1600" b="0" i="0" u="none" strike="noStrik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sym typeface="Arial"/>
                        </a:rPr>
                        <a:t>25</a:t>
                      </a:r>
                    </a:p>
                  </a:txBody>
                  <a:tcPr marL="0" marR="0" marT="50800" marB="50800" anchor="ctr">
                    <a:lnL w="0" cap="flat" cmpd="sng" algn="ctr">
                      <a:noFill/>
                      <a:prstDash val="solid"/>
                    </a:lnL>
                    <a:lnR w="0" cap="flat" cmpd="sng" algn="ctr">
                      <a:noFill/>
                      <a:prstDash val="solid"/>
                    </a:lnR>
                    <a:lnT w="0" cap="flat" cmpd="sng" algn="ctr">
                      <a:noFill/>
                      <a:prstDash val="solid"/>
                    </a:lnT>
                    <a:lnB w="0" cap="flat" cmpd="sng" algn="ctr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5437">
                <a:tc>
                  <a:txBody>
                    <a:bodyPr/>
                    <a:lstStyle/>
                    <a:p>
                      <a:pPr marL="50800" marR="50800" algn="l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sz="1600" b="0" i="0" u="none" strike="noStrik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sym typeface="Arial"/>
                        </a:rPr>
                        <a:t>non</a:t>
                      </a:r>
                    </a:p>
                  </a:txBody>
                  <a:tcPr marL="0" marR="0" marT="50800" marB="50800" anchor="ctr">
                    <a:lnL w="0" cap="flat" cmpd="sng" algn="ctr">
                      <a:noFill/>
                      <a:prstDash val="solid"/>
                    </a:lnL>
                    <a:lnR w="0" cap="flat" cmpd="sng" algn="ctr">
                      <a:noFill/>
                      <a:prstDash val="solid"/>
                    </a:lnR>
                    <a:lnT w="0" cap="flat" cmpd="sng" algn="ctr">
                      <a:noFill/>
                      <a:prstDash val="solid"/>
                    </a:lnT>
                    <a:lnB w="19050" cap="flat" cmpd="sng" algn="ctr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 marR="50800" algn="ctr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sz="1600" b="0" i="0" u="none" strike="noStrike" cap="none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sym typeface="Arial"/>
                        </a:rPr>
                        <a:t>18</a:t>
                      </a:r>
                    </a:p>
                  </a:txBody>
                  <a:tcPr marL="0" marR="0" marT="50800" marB="50800" anchor="ctr">
                    <a:lnL w="0" cap="flat" cmpd="sng" algn="ctr">
                      <a:noFill/>
                      <a:prstDash val="solid"/>
                    </a:lnL>
                    <a:lnR w="0" cap="flat" cmpd="sng" algn="ctr">
                      <a:noFill/>
                      <a:prstDash val="solid"/>
                    </a:lnR>
                    <a:lnT w="0" cap="flat" cmpd="sng" algn="ctr">
                      <a:noFill/>
                      <a:prstDash val="solid"/>
                    </a:lnT>
                    <a:lnB w="19050" cap="flat" cmpd="sng" algn="ctr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6" name="Tableau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8143255"/>
              </p:ext>
            </p:extLst>
          </p:nvPr>
        </p:nvGraphicFramePr>
        <p:xfrm>
          <a:off x="5004048" y="1139818"/>
          <a:ext cx="2520280" cy="4981246"/>
        </p:xfrm>
        <a:graphic>
          <a:graphicData uri="http://schemas.openxmlformats.org/drawingml/2006/table">
            <a:tbl>
              <a:tblPr/>
              <a:tblGrid>
                <a:gridCol w="18351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0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41629">
                <a:tc>
                  <a:txBody>
                    <a:bodyPr/>
                    <a:lstStyle/>
                    <a:p>
                      <a:pPr marL="50800" marR="50800" algn="l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sz="1600" b="1" i="0" u="none" strike="noStrike" cap="none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sym typeface="Arial"/>
                        </a:rPr>
                        <a:t>Communes</a:t>
                      </a:r>
                    </a:p>
                  </a:txBody>
                  <a:tcPr marL="0" marR="0" marT="50800" marB="50800" anchor="ctr">
                    <a:lnL w="0" cap="flat" cmpd="sng" algn="ctr">
                      <a:noFill/>
                      <a:prstDash val="solid"/>
                    </a:lnL>
                    <a:lnR w="0" cap="flat" cmpd="sng" algn="ctr">
                      <a:noFill/>
                      <a:prstDash val="solid"/>
                    </a:lnR>
                    <a:lnT w="19050" cap="flat" cmpd="sng" algn="ctr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w="19050" cap="flat" cmpd="sng" algn="ctr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 marR="50800" algn="ctr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sz="1600" b="1" i="0" u="none" strike="noStrik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sym typeface="Arial"/>
                        </a:rPr>
                        <a:t>Nb</a:t>
                      </a:r>
                    </a:p>
                  </a:txBody>
                  <a:tcPr marL="0" marR="0" marT="50800" marB="50800" anchor="ctr">
                    <a:lnL w="0" cap="flat" cmpd="sng" algn="ctr">
                      <a:noFill/>
                      <a:prstDash val="solid"/>
                    </a:lnL>
                    <a:lnR w="0" cap="flat" cmpd="sng" algn="ctr">
                      <a:noFill/>
                      <a:prstDash val="solid"/>
                    </a:lnR>
                    <a:lnT w="19050" cap="flat" cmpd="sng" algn="ctr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w="19050" cap="flat" cmpd="sng" algn="ctr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629">
                <a:tc>
                  <a:txBody>
                    <a:bodyPr/>
                    <a:lstStyle/>
                    <a:p>
                      <a:pPr marL="50800" marR="50800" algn="l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sz="1600" b="0" i="0" u="none" strike="noStrik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sym typeface="Arial"/>
                        </a:rPr>
                        <a:t>SLM</a:t>
                      </a:r>
                    </a:p>
                  </a:txBody>
                  <a:tcPr marL="0" marR="0" marT="50800" marB="50800" anchor="ctr">
                    <a:lnL w="0" cap="flat" cmpd="sng" algn="ctr">
                      <a:noFill/>
                      <a:prstDash val="solid"/>
                    </a:lnL>
                    <a:lnR w="0" cap="flat" cmpd="sng" algn="ctr">
                      <a:noFill/>
                      <a:prstDash val="solid"/>
                    </a:lnR>
                    <a:lnT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 marR="50800" algn="ctr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sz="1600" b="0" i="0" u="none" strike="noStrik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sym typeface="Arial"/>
                        </a:rPr>
                        <a:t>27</a:t>
                      </a:r>
                    </a:p>
                  </a:txBody>
                  <a:tcPr marL="0" marR="0" marT="50800" marB="50800" anchor="ctr">
                    <a:lnL w="0" cap="flat" cmpd="sng" algn="ctr">
                      <a:noFill/>
                      <a:prstDash val="solid"/>
                    </a:lnL>
                    <a:lnR w="0" cap="flat" cmpd="sng" algn="ctr">
                      <a:noFill/>
                      <a:prstDash val="solid"/>
                    </a:lnR>
                    <a:lnT w="190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9538">
                <a:tc>
                  <a:txBody>
                    <a:bodyPr/>
                    <a:lstStyle/>
                    <a:p>
                      <a:pPr marL="50800" marR="50800" algn="l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sz="1600" b="0" i="0" u="none" strike="noStrik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sym typeface="Arial"/>
                        </a:rPr>
                        <a:t>Iracoubo</a:t>
                      </a:r>
                    </a:p>
                  </a:txBody>
                  <a:tcPr marL="0" marR="0" marT="50800" marB="50800" anchor="ctr">
                    <a:lnL w="0" cap="flat" cmpd="sng" algn="ctr">
                      <a:noFill/>
                      <a:prstDash val="solid"/>
                    </a:lnL>
                    <a:lnR w="0" cap="flat" cmpd="sng" algn="ctr">
                      <a:noFill/>
                      <a:prstDash val="solid"/>
                    </a:lnR>
                    <a:lnT w="0" cap="flat" cmpd="sng" algn="ctr">
                      <a:noFill/>
                      <a:prstDash val="solid"/>
                    </a:lnT>
                    <a:lnB w="0" cap="flat" cmpd="sng" algn="ctr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 marR="50800" algn="ctr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sz="1600" b="0" i="0" u="none" strike="noStrik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sym typeface="Arial"/>
                        </a:rPr>
                        <a:t>13</a:t>
                      </a:r>
                    </a:p>
                  </a:txBody>
                  <a:tcPr marL="0" marR="0" marT="50800" marB="50800" anchor="ctr">
                    <a:lnL w="0" cap="flat" cmpd="sng" algn="ctr">
                      <a:noFill/>
                      <a:prstDash val="solid"/>
                    </a:lnL>
                    <a:lnR w="0" cap="flat" cmpd="sng" algn="ctr">
                      <a:noFill/>
                      <a:prstDash val="solid"/>
                    </a:lnR>
                    <a:lnT w="0" cap="flat" cmpd="sng" algn="ctr">
                      <a:noFill/>
                      <a:prstDash val="solid"/>
                    </a:lnT>
                    <a:lnB w="0" cap="flat" cmpd="sng" algn="ctr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610">
                <a:tc>
                  <a:txBody>
                    <a:bodyPr/>
                    <a:lstStyle/>
                    <a:p>
                      <a:pPr marL="50800" marR="50800" algn="l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sz="1600" b="0" i="0" u="none" strike="noStrike" cap="none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sym typeface="Arial"/>
                        </a:rPr>
                        <a:t>Mana</a:t>
                      </a:r>
                    </a:p>
                  </a:txBody>
                  <a:tcPr marL="0" marR="0" marT="50800" marB="50800" anchor="ctr">
                    <a:lnL w="0" cap="flat" cmpd="sng" algn="ctr">
                      <a:noFill/>
                      <a:prstDash val="solid"/>
                    </a:lnL>
                    <a:lnR w="0" cap="flat" cmpd="sng" algn="ctr">
                      <a:noFill/>
                      <a:prstDash val="solid"/>
                    </a:lnR>
                    <a:lnT w="0" cap="flat" cmpd="sng" algn="ctr">
                      <a:noFill/>
                      <a:prstDash val="solid"/>
                    </a:lnT>
                    <a:lnB w="0" cap="flat" cmpd="sng" algn="ctr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 marR="50800" algn="ctr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sz="1600" b="0" i="0" u="none" strike="noStrik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sym typeface="Arial"/>
                        </a:rPr>
                        <a:t>11</a:t>
                      </a:r>
                    </a:p>
                  </a:txBody>
                  <a:tcPr marL="0" marR="0" marT="50800" marB="50800" anchor="ctr">
                    <a:lnL w="0" cap="flat" cmpd="sng" algn="ctr">
                      <a:noFill/>
                      <a:prstDash val="solid"/>
                    </a:lnL>
                    <a:lnR w="0" cap="flat" cmpd="sng" algn="ctr">
                      <a:noFill/>
                      <a:prstDash val="solid"/>
                    </a:lnR>
                    <a:lnT w="0" cap="flat" cmpd="sng" algn="ctr">
                      <a:noFill/>
                      <a:prstDash val="solid"/>
                    </a:lnT>
                    <a:lnB w="0" cap="flat" cmpd="sng" algn="ctr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1745">
                <a:tc>
                  <a:txBody>
                    <a:bodyPr/>
                    <a:lstStyle/>
                    <a:p>
                      <a:pPr marL="50800" marR="50800" algn="l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sz="1600" b="0" i="0" u="none" strike="noStrike" cap="none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sym typeface="Arial"/>
                        </a:rPr>
                        <a:t>SGO</a:t>
                      </a:r>
                    </a:p>
                  </a:txBody>
                  <a:tcPr marL="0" marR="0" marT="50800" marB="50800" anchor="ctr">
                    <a:lnL w="0" cap="flat" cmpd="sng" algn="ctr">
                      <a:noFill/>
                      <a:prstDash val="solid"/>
                    </a:lnL>
                    <a:lnR w="0" cap="flat" cmpd="sng" algn="ctr">
                      <a:noFill/>
                      <a:prstDash val="solid"/>
                    </a:lnR>
                    <a:lnT w="0" cap="flat" cmpd="sng" algn="ctr">
                      <a:noFill/>
                      <a:prstDash val="solid"/>
                    </a:lnT>
                    <a:lnB w="0" cap="flat" cmpd="sng" algn="ctr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 marR="50800" algn="ctr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sz="1600" b="0" i="0" u="none" strike="noStrik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sym typeface="Arial"/>
                        </a:rPr>
                        <a:t>8</a:t>
                      </a:r>
                    </a:p>
                  </a:txBody>
                  <a:tcPr marL="0" marR="0" marT="50800" marB="50800" anchor="ctr">
                    <a:lnL w="0" cap="flat" cmpd="sng" algn="ctr">
                      <a:noFill/>
                      <a:prstDash val="solid"/>
                    </a:lnL>
                    <a:lnR w="0" cap="flat" cmpd="sng" algn="ctr">
                      <a:noFill/>
                      <a:prstDash val="solid"/>
                    </a:lnR>
                    <a:lnT w="0" cap="flat" cmpd="sng" algn="ctr">
                      <a:noFill/>
                      <a:prstDash val="solid"/>
                    </a:lnT>
                    <a:lnB w="0" cap="flat" cmpd="sng" algn="ctr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9422">
                <a:tc>
                  <a:txBody>
                    <a:bodyPr/>
                    <a:lstStyle/>
                    <a:p>
                      <a:pPr marL="50800" marR="50800" algn="l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sz="1600" b="0" i="0" u="none" strike="noStrike" cap="none" dirty="0" err="1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sym typeface="Arial"/>
                        </a:rPr>
                        <a:t>Macouria</a:t>
                      </a:r>
                      <a:endParaRPr sz="1600" b="0" i="0" u="none" strike="noStrike" cap="none" dirty="0">
                        <a:solidFill>
                          <a:srgbClr val="000000">
                            <a:alpha val="100000"/>
                          </a:srgbClr>
                        </a:solidFill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  <a:prstDash val="solid"/>
                    </a:lnL>
                    <a:lnR w="0" cap="flat" cmpd="sng" algn="ctr">
                      <a:noFill/>
                      <a:prstDash val="solid"/>
                    </a:lnR>
                    <a:lnT w="0" cap="flat" cmpd="sng" algn="ctr">
                      <a:noFill/>
                      <a:prstDash val="solid"/>
                    </a:lnT>
                    <a:lnB w="0" cap="flat" cmpd="sng" algn="ctr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 marR="50800" algn="ctr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sz="1600" b="0" i="0" u="none" strike="noStrik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sym typeface="Arial"/>
                        </a:rPr>
                        <a:t>6</a:t>
                      </a:r>
                    </a:p>
                  </a:txBody>
                  <a:tcPr marL="0" marR="0" marT="50800" marB="50800" anchor="ctr">
                    <a:lnL w="0" cap="flat" cmpd="sng" algn="ctr">
                      <a:noFill/>
                      <a:prstDash val="solid"/>
                    </a:lnL>
                    <a:lnR w="0" cap="flat" cmpd="sng" algn="ctr">
                      <a:noFill/>
                      <a:prstDash val="solid"/>
                    </a:lnR>
                    <a:lnT w="0" cap="flat" cmpd="sng" algn="ctr">
                      <a:noFill/>
                      <a:prstDash val="solid"/>
                    </a:lnT>
                    <a:lnB w="0" cap="flat" cmpd="sng" algn="ctr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85874">
                <a:tc>
                  <a:txBody>
                    <a:bodyPr/>
                    <a:lstStyle/>
                    <a:p>
                      <a:pPr marL="50800" marR="50800" algn="l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sz="1600" b="0" i="0" u="none" strike="noStrike" cap="none" dirty="0" err="1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sym typeface="Arial"/>
                        </a:rPr>
                        <a:t>Montsinery</a:t>
                      </a:r>
                      <a:endParaRPr sz="1600" b="0" i="0" u="none" strike="noStrike" cap="none" dirty="0">
                        <a:solidFill>
                          <a:srgbClr val="000000">
                            <a:alpha val="100000"/>
                          </a:srgbClr>
                        </a:solidFill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  <a:prstDash val="solid"/>
                    </a:lnL>
                    <a:lnR w="0" cap="flat" cmpd="sng" algn="ctr">
                      <a:noFill/>
                      <a:prstDash val="solid"/>
                    </a:lnR>
                    <a:lnT w="0" cap="flat" cmpd="sng" algn="ctr">
                      <a:noFill/>
                      <a:prstDash val="solid"/>
                    </a:lnT>
                    <a:lnB w="0" cap="flat" cmpd="sng" algn="ctr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 marR="50800" algn="ctr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sz="1600" b="0" i="0" u="none" strike="noStrik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marL="0" marR="0" marT="50800" marB="50800" anchor="ctr">
                    <a:lnL w="0" cap="flat" cmpd="sng" algn="ctr">
                      <a:noFill/>
                      <a:prstDash val="solid"/>
                    </a:lnL>
                    <a:lnR w="0" cap="flat" cmpd="sng" algn="ctr">
                      <a:noFill/>
                      <a:prstDash val="solid"/>
                    </a:lnR>
                    <a:lnT w="0" cap="flat" cmpd="sng" algn="ctr">
                      <a:noFill/>
                      <a:prstDash val="solid"/>
                    </a:lnT>
                    <a:lnB w="0" cap="flat" cmpd="sng" algn="ctr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9538">
                <a:tc>
                  <a:txBody>
                    <a:bodyPr/>
                    <a:lstStyle/>
                    <a:p>
                      <a:pPr marL="50800" marR="50800" algn="l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sz="1600" b="0" i="0" u="none" strike="noStrik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sym typeface="Arial"/>
                        </a:rPr>
                        <a:t>Roura</a:t>
                      </a:r>
                    </a:p>
                  </a:txBody>
                  <a:tcPr marL="0" marR="0" marT="50800" marB="50800" anchor="ctr">
                    <a:lnL w="0" cap="flat" cmpd="sng" algn="ctr">
                      <a:noFill/>
                      <a:prstDash val="solid"/>
                    </a:lnL>
                    <a:lnR w="0" cap="flat" cmpd="sng" algn="ctr">
                      <a:noFill/>
                      <a:prstDash val="solid"/>
                    </a:lnR>
                    <a:lnT w="0" cap="flat" cmpd="sng" algn="ctr">
                      <a:noFill/>
                      <a:prstDash val="solid"/>
                    </a:lnT>
                    <a:lnB w="0" cap="flat" cmpd="sng" algn="ctr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 marR="50800" algn="ctr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sz="1600" b="0" i="0" u="none" strike="noStrik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marL="0" marR="0" marT="50800" marB="50800" anchor="ctr">
                    <a:lnL w="0" cap="flat" cmpd="sng" algn="ctr">
                      <a:noFill/>
                      <a:prstDash val="solid"/>
                    </a:lnL>
                    <a:lnR w="0" cap="flat" cmpd="sng" algn="ctr">
                      <a:noFill/>
                      <a:prstDash val="solid"/>
                    </a:lnR>
                    <a:lnT w="0" cap="flat" cmpd="sng" algn="ctr">
                      <a:noFill/>
                      <a:prstDash val="solid"/>
                    </a:lnT>
                    <a:lnB w="0" cap="flat" cmpd="sng" algn="ctr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8610">
                <a:tc>
                  <a:txBody>
                    <a:bodyPr/>
                    <a:lstStyle/>
                    <a:p>
                      <a:pPr marL="50800" marR="50800" algn="l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sz="1600" b="0" i="0" u="none" strike="noStrik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sym typeface="Arial"/>
                        </a:rPr>
                        <a:t>Kourou</a:t>
                      </a:r>
                    </a:p>
                  </a:txBody>
                  <a:tcPr marL="0" marR="0" marT="50800" marB="50800" anchor="ctr">
                    <a:lnL w="0" cap="flat" cmpd="sng" algn="ctr">
                      <a:noFill/>
                      <a:prstDash val="solid"/>
                    </a:lnL>
                    <a:lnR w="0" cap="flat" cmpd="sng" algn="ctr">
                      <a:noFill/>
                      <a:prstDash val="solid"/>
                    </a:lnR>
                    <a:lnT w="0" cap="flat" cmpd="sng" algn="ctr">
                      <a:noFill/>
                      <a:prstDash val="solid"/>
                    </a:lnT>
                    <a:lnB w="0" cap="flat" cmpd="sng" algn="ctr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 marR="50800" algn="ctr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sz="1600" b="0" i="0" u="none" strike="noStrik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marL="0" marR="0" marT="50800" marB="50800" anchor="ctr">
                    <a:lnL w="0" cap="flat" cmpd="sng" algn="ctr">
                      <a:noFill/>
                      <a:prstDash val="solid"/>
                    </a:lnL>
                    <a:lnR w="0" cap="flat" cmpd="sng" algn="ctr">
                      <a:noFill/>
                      <a:prstDash val="solid"/>
                    </a:lnR>
                    <a:lnT w="0" cap="flat" cmpd="sng" algn="ctr">
                      <a:noFill/>
                      <a:prstDash val="solid"/>
                    </a:lnT>
                    <a:lnB w="0" cap="flat" cmpd="sng" algn="ctr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88777">
                <a:tc>
                  <a:txBody>
                    <a:bodyPr/>
                    <a:lstStyle/>
                    <a:p>
                      <a:pPr marL="50800" marR="50800" algn="l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sz="1600" b="0" i="0" u="none" strike="noStrik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sym typeface="Arial"/>
                        </a:rPr>
                        <a:t>Sinnamary</a:t>
                      </a:r>
                    </a:p>
                  </a:txBody>
                  <a:tcPr marL="0" marR="0" marT="50800" marB="50800" anchor="ctr">
                    <a:lnL w="0" cap="flat" cmpd="sng" algn="ctr">
                      <a:noFill/>
                      <a:prstDash val="solid"/>
                    </a:lnL>
                    <a:lnR w="0" cap="flat" cmpd="sng" algn="ctr">
                      <a:noFill/>
                      <a:prstDash val="solid"/>
                    </a:lnR>
                    <a:lnT w="0" cap="flat" cmpd="sng" algn="ctr">
                      <a:noFill/>
                      <a:prstDash val="solid"/>
                    </a:lnT>
                    <a:lnB w="0" cap="flat" cmpd="sng" algn="ctr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 marR="50800" algn="ctr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sz="1600" b="0" i="0" u="none" strike="noStrik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marL="0" marR="0" marT="50800" marB="50800" anchor="ctr">
                    <a:lnL w="0" cap="flat" cmpd="sng" algn="ctr">
                      <a:noFill/>
                      <a:prstDash val="solid"/>
                    </a:lnL>
                    <a:lnR w="0" cap="flat" cmpd="sng" algn="ctr">
                      <a:noFill/>
                      <a:prstDash val="solid"/>
                    </a:lnR>
                    <a:lnT w="0" cap="flat" cmpd="sng" algn="ctr">
                      <a:noFill/>
                      <a:prstDash val="solid"/>
                    </a:lnT>
                    <a:lnB w="0" cap="flat" cmpd="sng" algn="ctr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85874">
                <a:tc>
                  <a:txBody>
                    <a:bodyPr/>
                    <a:lstStyle/>
                    <a:p>
                      <a:pPr marL="50800" marR="50800" algn="l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sz="1600" b="0" i="0" u="none" strike="noStrike" cap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sym typeface="Arial"/>
                        </a:rPr>
                        <a:t>Regina</a:t>
                      </a:r>
                    </a:p>
                  </a:txBody>
                  <a:tcPr marL="0" marR="0" marT="50800" marB="50800" anchor="ctr">
                    <a:lnL w="0" cap="flat" cmpd="sng" algn="ctr">
                      <a:noFill/>
                      <a:prstDash val="solid"/>
                    </a:lnL>
                    <a:lnR w="0" cap="flat" cmpd="sng" algn="ctr">
                      <a:noFill/>
                      <a:prstDash val="solid"/>
                    </a:lnR>
                    <a:lnT w="0" cap="flat" cmpd="sng" algn="ctr">
                      <a:noFill/>
                      <a:prstDash val="solid"/>
                    </a:lnT>
                    <a:lnB w="19050" cap="flat" cmpd="sng" algn="ctr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50800" marR="50800" algn="ctr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sz="1600" b="0" i="0" u="none" strike="noStrike" cap="none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50800" marB="50800" anchor="ctr">
                    <a:lnL w="0" cap="flat" cmpd="sng" algn="ctr">
                      <a:noFill/>
                      <a:prstDash val="solid"/>
                    </a:lnL>
                    <a:lnR w="0" cap="flat" cmpd="sng" algn="ctr">
                      <a:noFill/>
                      <a:prstDash val="solid"/>
                    </a:lnR>
                    <a:lnT w="0" cap="flat" cmpd="sng" algn="ctr">
                      <a:noFill/>
                      <a:prstDash val="solid"/>
                    </a:lnT>
                    <a:lnB w="19050" cap="flat" cmpd="sng" algn="ctr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52</Words>
  <Application>Microsoft Office PowerPoint</Application>
  <PresentationFormat>Affichage à l'écran (4:3)</PresentationFormat>
  <Paragraphs>45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/>
  <cp:keywords/>
  <dc:description/>
  <cp:lastModifiedBy>Florian</cp:lastModifiedBy>
  <cp:revision>4</cp:revision>
  <dcterms:created xsi:type="dcterms:W3CDTF">2017-02-13T16:18:36Z</dcterms:created>
  <dcterms:modified xsi:type="dcterms:W3CDTF">2026-04-21T13:25:40Z</dcterms:modified>
  <cp:category/>
</cp:coreProperties>
</file>